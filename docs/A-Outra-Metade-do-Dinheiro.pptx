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comece por aqui. Comece pelo número do slide seguinte e volte para se apresentar depois. Trinta segundos de apresentação, não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VERSÃO A, se o Will autorizou: "O Will me chamou aqui por um motivo específico. Eu auditei o canal do Dom Amorim." VERSÃO B: "Um canal de música de IA que eu auditei." Confirme com ele ANTES de entrar no 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Segure o silêncio dois segundos depois de dizer "setenta euros". A pausa é o argumento. Depois: "quase todo mundo tira a conclusão errada — então o Spotify não vale a pena. Errado."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promessa é o que segura a audiência até as 20:28. Cumpra 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Bloco de 8 minutos. Comece pedindo resposta no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Espere de verdade. O silêncio é o argumento. Depois: "então praticamente todo lançamento de vocês está nascendo sem pitch, sem Radar de Novidades, sem chance de editorial e sem dado nenhum de volta. E isso é de graça."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primeiro card é o que importa. Nos outros três, passe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passe rápido por este slide. É o argumento mais concreto do bloco.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Trinta segundos por linha e siga. Este bloco é o mais fácil de estourar 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de faixa funcional pega em cheio quem faz sono, chuva e lareira. Não dê número que envelhece em seis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Anuncie que vai dar mais tempo às de usuário do que às editoriais. Foi o que a arte prometeu.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Marque o sinal 2 com a voz. Ele é o gancho do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Metade da sala já recebeu essa oferta no direct. Diga com todas as letras.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Respire. Baixe o ritmo em vez de acelerar. Este é o bloco pelo qual os outros três existem.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Guarde essa frase — é o resto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Contribuição humana que não está documentada, na prática, não existe. Passe rápido nos quatro chips — o próximo slide é o que importa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Diga inteiro, sem cortar. A ressalva fortalece a aula — essa plateia já ouviu promessa demais de quem não põe ressalva em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slide-chave da aula inteira. Pausa antes e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rota de cima: o problema dela é o número de elos — distribuidora que revende para distribuidora entrega royalty esmagado. A de baixo não vem pela distribuidora, e ninguém avisa que ela está lá.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Pergunte se alguém já recebeu esse tipo de comentário. Costuma aparecer mão levantada.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o bloco com o risco. É o que fica na cabeça até a oferta.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pule para o preço antes desta ponte. Ela é o que faz a oferta parecer conclusão, e não anexo.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É a oferta: mostra que as duas mentorias não competem em nenhuma linha. Diga o preço em voz alta e cole o link no chat AGORA, antes das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quiser fazer sozinho, agora tem o mapa. Quem quiser fazer acompanhado, o link está no chat. Depois abra as perguntas — 15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C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69164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OUTRA METADE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74320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DINHEIRO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views em uma carreira musical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5074920"/>
            <a:ext cx="3017520" cy="18288"/>
          </a:xfrm>
          <a:prstGeom prst="rect">
            <a:avLst/>
          </a:prstGeom>
          <a:solidFill>
            <a:srgbClr val="2C33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5257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RODRIGO DREW  ·  PROPULSE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solidFill>
            <a:srgbClr val="0C0F0D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MESMO CATÁLOGO, NO MESMO PERÍODO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5212080" cy="2423160"/>
          </a:xfrm>
          <a:prstGeom prst="rect">
            <a:avLst/>
          </a:prstGeom>
          <a:solidFill>
            <a:srgbClr val="171C19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22860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R$ 61.000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246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AdSense em 8 meses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920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YOUTUBE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212080" cy="2423160"/>
          </a:xfrm>
          <a:prstGeom prst="rect">
            <a:avLst/>
          </a:prstGeom>
          <a:solidFill>
            <a:srgbClr val="171C19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20840" y="22860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€ 70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3246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1920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SPOTIFY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526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Milhões de views de um lado. Setenta euros do outro.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9202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Setenta euros.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29184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6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Spotify daquele catálogo não estava rendendo pouco.</a:t>
            </a:r>
            <a:endParaRPr lang="en-US" sz="26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6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estava desligado.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solidFill>
            <a:srgbClr val="0C0F0D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VOCÊ LEVA DAQUI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772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uma hora, três coisas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7568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está o dinheiro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871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você não está recebendo hoje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12724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fazer na segunda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5387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inteira, item por item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17880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numa música de IA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5902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que não vale — sem promessa falsa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7150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parte mais valiosa está no fim. Não saia antes.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945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Spotify for Artists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703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de graça, sai em poucos dias, e é a diferença entre um lançamento com distribuição e um lançamento morto.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solidFill>
            <a:srgbClr val="0C0F0D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solidFill>
            <a:srgbClr val="0C0F0D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5448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48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aqui já reivindicou</a:t>
            </a:r>
            <a:endParaRPr lang="en-US" sz="48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48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Spotify for Artists</a:t>
            </a:r>
            <a:endParaRPr lang="en-US" sz="48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48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seu projeto?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663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no chat.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solidFill>
            <a:srgbClr val="0C0F0D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PAINEL DO ARTISTA DENTRO DO SPOTIFY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772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ele destrava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5166360" cy="1645920"/>
          </a:xfrm>
          <a:prstGeom prst="rect">
            <a:avLst/>
          </a:prstGeom>
          <a:solidFill>
            <a:srgbClr val="1E2521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671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formulário de pitch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58775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caminho até as editoriais — e mesmo sem ser escolhido, garante a faixa no Radar de Novidades de quem te segue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965960"/>
            <a:ext cx="5166360" cy="1645920"/>
          </a:xfrm>
          <a:prstGeom prst="rect">
            <a:avLst/>
          </a:prstGeom>
          <a:solidFill>
            <a:srgbClr val="171C19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1671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Origem dos streams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58775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veio de playlist, busca ou perfil. É o Analytics de vocês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840480"/>
            <a:ext cx="5166360" cy="1645920"/>
          </a:xfrm>
          <a:prstGeom prst="rect">
            <a:avLst/>
          </a:prstGeom>
          <a:solidFill>
            <a:srgbClr val="171C19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0416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Página do artista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46227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Foto, bio, links. Onde a persona existe fora do YouTube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72200" y="3840480"/>
            <a:ext cx="5166360" cy="1645920"/>
          </a:xfrm>
          <a:prstGeom prst="rect">
            <a:avLst/>
          </a:prstGeom>
          <a:solidFill>
            <a:srgbClr val="171C19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40416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 e Artist Pick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46227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graça, e sobem salvamento — que é sinal de algoritmo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solidFill>
            <a:srgbClr val="0C0F0D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REGRA QUE DERRUBA A MAIORIA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1887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0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 que a faixa saiu,</a:t>
            </a:r>
            <a:endParaRPr lang="en-US" sz="50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50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acabou.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00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pitch só existe para faixa ainda não lançada. O Spotify pede sete dias no mínimo; o mercado trabalha com três a quatro semanas.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85800" y="4434840"/>
            <a:ext cx="10789920" cy="1783080"/>
          </a:xfrm>
          <a:prstGeom prst="rect">
            <a:avLst/>
          </a:prstGeom>
          <a:solidFill>
            <a:srgbClr val="1E2521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46360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O PIOR ARRANJO POSSÍVEL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4965192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24 faixas de uma vez: um pitch só, um dia só de sinal, e um padrão que os filtros antifraude leem como suspeito.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945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 de Lançamentos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703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trocas. Nenhuma delas custa dinheiro — todas custam calendário.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solidFill>
            <a:srgbClr val="0C0F0D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solidFill>
            <a:srgbClr val="0C0F0D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QUASE TODO MUNDO FAZ  →  FAÇA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772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quatro trocas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trike="sngStrike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24 faixas de uma vez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0116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por semana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85800" y="2816352"/>
            <a:ext cx="10789920" cy="9144"/>
          </a:xfrm>
          <a:prstGeom prst="rect">
            <a:avLst/>
          </a:prstGeom>
          <a:solidFill>
            <a:srgbClr val="232A2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971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trike="sngStrike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 no dia em que termina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9718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3 a 4 semanas antes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85800" y="3776472"/>
            <a:ext cx="10789920" cy="9144"/>
          </a:xfrm>
          <a:prstGeom prst="rect">
            <a:avLst/>
          </a:prstGeom>
          <a:solidFill>
            <a:srgbClr val="232A2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931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trike="sngStrike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Espalha no catálogo inteiro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39319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 em poucas faixas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85800" y="4736592"/>
            <a:ext cx="10789920" cy="9144"/>
          </a:xfrm>
          <a:prstGeom prst="rect">
            <a:avLst/>
          </a:prstGeom>
          <a:solidFill>
            <a:srgbClr val="232A2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4892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trike="sngStrike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e Spotify separados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48920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Constrói a ponte entre os dois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solidFill>
            <a:srgbClr val="0C0F0D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QUE CONCENTRAR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772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 um piso para gerar royalty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5212080" cy="2194560"/>
          </a:xfrm>
          <a:prstGeom prst="rect">
            <a:avLst/>
          </a:prstGeom>
          <a:solidFill>
            <a:srgbClr val="171C19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2860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6A0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faixas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880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300 streams cada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3832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R$ 0,00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263640" y="2011680"/>
            <a:ext cx="5212080" cy="2194560"/>
          </a:xfrm>
          <a:prstGeom prst="rect">
            <a:avLst/>
          </a:prstGeom>
          <a:solidFill>
            <a:srgbClr val="1E2521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22860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faixa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880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6.000 streams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3832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85800" y="4572000"/>
            <a:ext cx="10789920" cy="1783080"/>
          </a:xfrm>
          <a:prstGeom prst="rect">
            <a:avLst/>
          </a:prstGeom>
          <a:solidFill>
            <a:srgbClr val="1E2521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47731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DIGA ISTO EM VOZ ALTA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5102352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regras mudaram em 2024 e continuam mudando — inclusive duração mínima para faixa de ruído e som ambiente. Confira os termos vigentes.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945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 &amp; Playlists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703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Editoriais, algorítmicas e de usuários. A terceira é a mais acessível — e a que ninguém trabalha.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solidFill>
            <a:srgbClr val="0C0F0D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20:20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solidFill>
            <a:srgbClr val="0C0F0D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20:20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TRÊS PORTAS, CHANCES MUITO DIFERENTES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772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tipos de playlist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3383280" cy="3017520"/>
          </a:xfrm>
          <a:prstGeom prst="rect">
            <a:avLst/>
          </a:prstGeom>
          <a:solidFill>
            <a:srgbClr val="171C19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212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EDITORIAL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51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 por pitch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4290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baixa para catálogo novo — mas o pitch vale pelo Radar mesmo sem seleção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383280" cy="3017520"/>
          </a:xfrm>
          <a:prstGeom prst="rect">
            <a:avLst/>
          </a:prstGeom>
          <a:solidFill>
            <a:srgbClr val="171C19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2212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4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ALGORÍTMICA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51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se pede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4290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Radar, Descobertas, Rádio, Autoplay. Conquista-se por comportamento. É onde mora o volume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01000" y="1965960"/>
            <a:ext cx="3383280" cy="3017520"/>
          </a:xfrm>
          <a:prstGeom prst="rect">
            <a:avLst/>
          </a:prstGeom>
          <a:solidFill>
            <a:srgbClr val="1E2521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212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USUÁRIO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651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Aberta a quem procurar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4290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Curadoria de gente comum. A mais acessível e a mais ignorada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solidFill>
            <a:srgbClr val="0C0F0D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20:23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O ALGORITMO LÊ — SEMPRE OS MESMOS QUATRO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772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sorteio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2130552"/>
            <a:ext cx="457200" cy="457200"/>
          </a:xfrm>
          <a:prstGeom prst="ellipse">
            <a:avLst/>
          </a:prstGeom>
          <a:solidFill>
            <a:srgbClr val="1E2521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05740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salva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85800" y="2971800"/>
            <a:ext cx="457200" cy="45720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F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89864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põe em playlist própria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85800" y="3813048"/>
            <a:ext cx="457200" cy="457200"/>
          </a:xfrm>
          <a:prstGeom prst="ellipse">
            <a:avLst/>
          </a:prstGeom>
          <a:solidFill>
            <a:srgbClr val="1E2521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739896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repete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85800" y="4654296"/>
            <a:ext cx="457200" cy="457200"/>
          </a:xfrm>
          <a:prstGeom prst="ellipse">
            <a:avLst/>
          </a:prstGeom>
          <a:solidFill>
            <a:srgbClr val="1E2521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654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581144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não pula nos primeiros segundos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623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retenção, com outro nome. A mesma coisa que vocês já perseguem no YouTube.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solidFill>
            <a:srgbClr val="0C0F0D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20:25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46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Playlist de usuário</a:t>
            </a:r>
            <a:endParaRPr lang="en-US" sz="46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46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alimenta a algorítmica.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832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trabalha playlist de usuário está treinando o algoritmo, não driblando ele. E em música funcional — sono, foco, ambiente — essas playlists são gigantes, e o dono do catálogo nunca aparece por lá.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85800" y="4572000"/>
            <a:ext cx="10789920" cy="1783080"/>
          </a:xfrm>
          <a:prstGeom prst="rect">
            <a:avLst/>
          </a:prstGeom>
          <a:solidFill>
            <a:srgbClr val="1E2521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47731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COMPRE POSIÇÃO EM PLAYLIST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5102352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 os termos, dispara o filtro antifraude e pode custar o catálogo. Numa operação com muitos criadores, basta um para contaminar o CNPJ da agregadora inteira.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B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945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outra metade do dinheiro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703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convite prometeu e não existe em lugar nenhum no YouTube.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solidFill>
            <a:srgbClr val="0C0F0D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20:28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solidFill>
            <a:srgbClr val="0C0F0D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20:28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SEPARAÇÃO QUE RESOLVE TUDO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772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música é duas coisas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5166360" cy="2834640"/>
          </a:xfrm>
          <a:prstGeom prst="rect">
            <a:avLst/>
          </a:prstGeom>
          <a:solidFill>
            <a:srgbClr val="171C19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2128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OBRA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606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composição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2461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Melodia e letra. Existe no papel, independente de gravação.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4206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TITULAR:  Autor, compositor e editora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166360" cy="2834640"/>
          </a:xfrm>
          <a:prstGeom prst="rect">
            <a:avLst/>
          </a:prstGeom>
          <a:solidFill>
            <a:srgbClr val="1E2521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22128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FONOGRAMA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606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gravação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2461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Aquela gravação específica. É o arquivo, a fixação dos sons.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206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TITULAR:  Produtor fonográfico e intérprete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166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Direitos diferentes. Titulares diferentes. Caminhos de pagamento diferentes.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solidFill>
            <a:srgbClr val="0C0F0D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20:31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ONDE A IA COMPLICA, E ONDE NÃO COMPLICA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772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dá para reivindicar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5166360" cy="2743200"/>
          </a:xfrm>
          <a:prstGeom prst="rect">
            <a:avLst/>
          </a:prstGeom>
          <a:solidFill>
            <a:srgbClr val="171C19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2128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TERRENO INSTÁVEL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6060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Autoria da obra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20040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 protege criação intelectual de pessoa. Composição inteiramente gerada por máquina não tem base firme — e a regulação ainda está sendo escrita.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166360" cy="2743200"/>
          </a:xfrm>
          <a:prstGeom prst="rect">
            <a:avLst/>
          </a:prstGeom>
          <a:solidFill>
            <a:srgbClr val="1E2521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2128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DEFENSÁVEL — E ONDE ESTÁ MAIS DINHEIRO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6060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Direito conexo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20040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depende de autoria criativa. Produtor fonográfico depende de iniciativa, responsabilidade e investimento — que é o que você faz ao gerar, curar, editar e publicar.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9834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FORTALECER A OBRA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5349240"/>
            <a:ext cx="2468880" cy="777240"/>
          </a:xfrm>
          <a:prstGeom prst="rect">
            <a:avLst/>
          </a:prstGeom>
          <a:solidFill>
            <a:srgbClr val="171C19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0392" y="534924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4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a letra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3383280" y="5349240"/>
            <a:ext cx="2468880" cy="777240"/>
          </a:xfrm>
          <a:prstGeom prst="rect">
            <a:avLst/>
          </a:prstGeom>
          <a:solidFill>
            <a:srgbClr val="171C19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47872" y="534924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4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prompts e versões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080760" y="5349240"/>
            <a:ext cx="2468880" cy="777240"/>
          </a:xfrm>
          <a:prstGeom prst="rect">
            <a:avLst/>
          </a:prstGeom>
          <a:solidFill>
            <a:srgbClr val="171C19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45352" y="534924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4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a licença do seu plano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778240" y="5349240"/>
            <a:ext cx="2468880" cy="777240"/>
          </a:xfrm>
          <a:prstGeom prst="rect">
            <a:avLst/>
          </a:prstGeom>
          <a:solidFill>
            <a:srgbClr val="171C19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42832" y="534924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4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declare o que não fez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solidFill>
            <a:srgbClr val="0C0F0D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20:33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DE QUALQUER CADASTRO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não sou advogado</a:t>
            </a:r>
            <a:endParaRPr lang="en-US" sz="4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isto não é parecer jurídico.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mapa de como o mercado opera e de onde estão os riscos.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800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cadastrar 400 obras, valide com um advogado de direito autoral.</a:t>
            </a:r>
            <a:endParaRPr lang="en-US" sz="2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solidFill>
            <a:srgbClr val="0C0F0D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20:34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630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50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Brasil, streaming</a:t>
            </a:r>
            <a:endParaRPr lang="en-US" sz="50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50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execução pública.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474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Superior Tribunal de Justiça · 2017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stream gera duas arrecadações — e quase ninguém aqui recolhe a segunda.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solidFill>
            <a:srgbClr val="0C0F0D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20:35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CAMINHO DO DINHEIRO DE UM STREAM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772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rotas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2788920"/>
            <a:ext cx="1600200" cy="868680"/>
          </a:xfrm>
          <a:prstGeom prst="rect">
            <a:avLst/>
          </a:prstGeom>
          <a:solidFill>
            <a:srgbClr val="171C19"/>
          </a:solidFill>
          <a:ln w="12700">
            <a:solidFill>
              <a:srgbClr val="3A42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9077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Ouvinte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826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STREAM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3223260"/>
            <a:ext cx="384048" cy="914"/>
          </a:xfrm>
          <a:prstGeom prst="line">
            <a:avLst/>
          </a:prstGeom>
          <a:noFill/>
          <a:ln w="25400">
            <a:solidFill>
              <a:srgbClr val="6C746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97480" y="2788920"/>
            <a:ext cx="1783080" cy="868680"/>
          </a:xfrm>
          <a:prstGeom prst="rect">
            <a:avLst/>
          </a:prstGeom>
          <a:solidFill>
            <a:srgbClr val="171C19"/>
          </a:solidFill>
          <a:ln w="12700">
            <a:solidFill>
              <a:srgbClr val="3A42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29077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Spotify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328269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 O BOLO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3223260"/>
            <a:ext cx="274320" cy="914"/>
          </a:xfrm>
          <a:prstGeom prst="line">
            <a:avLst/>
          </a:prstGeom>
          <a:noFill/>
          <a:ln w="25400">
            <a:solidFill>
              <a:srgbClr val="6C74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583180"/>
            <a:ext cx="914" cy="2011680"/>
          </a:xfrm>
          <a:prstGeom prst="line">
            <a:avLst/>
          </a:prstGeom>
          <a:noFill/>
          <a:ln w="25400">
            <a:solidFill>
              <a:srgbClr val="6C74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2583180"/>
            <a:ext cx="301752" cy="914"/>
          </a:xfrm>
          <a:prstGeom prst="line">
            <a:avLst/>
          </a:prstGeom>
          <a:noFill/>
          <a:ln w="25400">
            <a:solidFill>
              <a:srgbClr val="3DDC8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54880" y="4594860"/>
            <a:ext cx="301752" cy="914"/>
          </a:xfrm>
          <a:prstGeom prst="line">
            <a:avLst/>
          </a:prstGeom>
          <a:noFill/>
          <a:ln w="25400">
            <a:solidFill>
              <a:srgbClr val="E8A33D"/>
            </a:solidFill>
            <a:prstDash val="dash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0749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 DO FONOGRAMA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74920" y="2148840"/>
            <a:ext cx="2240280" cy="868680"/>
          </a:xfrm>
          <a:prstGeom prst="rect">
            <a:avLst/>
          </a:prstGeom>
          <a:solidFill>
            <a:srgbClr val="171C19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74920" y="22677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Distribuidora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26426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INTERMEDIÁRIOS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0" y="2583180"/>
            <a:ext cx="301752" cy="914"/>
          </a:xfrm>
          <a:prstGeom prst="line">
            <a:avLst/>
          </a:prstGeom>
          <a:noFill/>
          <a:ln w="25400">
            <a:solidFill>
              <a:srgbClr val="3DDC8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635240" y="2148840"/>
            <a:ext cx="2057400" cy="868680"/>
          </a:xfrm>
          <a:prstGeom prst="rect">
            <a:avLst/>
          </a:prstGeom>
          <a:solidFill>
            <a:srgbClr val="171C19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35240" y="22677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elo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635240" y="264261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TIRA A SUA PARTE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692640" y="2583180"/>
            <a:ext cx="301752" cy="914"/>
          </a:xfrm>
          <a:prstGeom prst="line">
            <a:avLst/>
          </a:prstGeom>
          <a:noFill/>
          <a:ln w="25400">
            <a:solidFill>
              <a:srgbClr val="3DDC8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012680" y="2148840"/>
            <a:ext cx="1691640" cy="868680"/>
          </a:xfrm>
          <a:prstGeom prst="rect">
            <a:avLst/>
          </a:prstGeom>
          <a:solidFill>
            <a:srgbClr val="171C19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12680" y="226771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Chega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10012680" y="26426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ESMAGADO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074920" y="5138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 DA OBRA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74920" y="4160520"/>
            <a:ext cx="2240280" cy="868680"/>
          </a:xfrm>
          <a:prstGeom prst="rect">
            <a:avLst/>
          </a:prstGeom>
          <a:solidFill>
            <a:srgbClr val="171C19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74920" y="42793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ECAD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5074920" y="465429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EXECUÇÃO PÚBLICA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0" y="4594860"/>
            <a:ext cx="301752" cy="914"/>
          </a:xfrm>
          <a:prstGeom prst="line">
            <a:avLst/>
          </a:prstGeom>
          <a:noFill/>
          <a:ln w="25400">
            <a:solidFill>
              <a:srgbClr val="E8A33D"/>
            </a:solidFill>
            <a:prstDash val="dash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635240" y="4160520"/>
            <a:ext cx="2057400" cy="868680"/>
          </a:xfrm>
          <a:prstGeom prst="rect">
            <a:avLst/>
          </a:prstGeom>
          <a:solidFill>
            <a:srgbClr val="171C19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35240" y="42793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Associação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7635240" y="465429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SÓ PARA FILIADOS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692640" y="4594860"/>
            <a:ext cx="301752" cy="914"/>
          </a:xfrm>
          <a:prstGeom prst="line">
            <a:avLst/>
          </a:prstGeom>
          <a:noFill/>
          <a:ln w="25400">
            <a:solidFill>
              <a:srgbClr val="E8A33D"/>
            </a:solidFill>
            <a:prstDash val="dash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012680" y="4160520"/>
            <a:ext cx="1691640" cy="868680"/>
          </a:xfrm>
          <a:prstGeom prst="rect">
            <a:avLst/>
          </a:prstGeom>
          <a:solidFill>
            <a:srgbClr val="171C19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012680" y="42793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 não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10012680" y="465429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CHEGA NADA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 de cima todo mundo aqui já tem. A de baixo só existe se você fizer existir.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solidFill>
            <a:srgbClr val="0C0F0D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20:37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EXECUÇÃO PÚBLICA NÃO É SÓ STREAMING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772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todo lugar que toca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468880" cy="868680"/>
          </a:xfrm>
          <a:prstGeom prst="rect">
            <a:avLst/>
          </a:prstGeom>
          <a:solidFill>
            <a:srgbClr val="171C19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0116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Rádio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468880" cy="868680"/>
          </a:xfrm>
          <a:prstGeom prst="rect">
            <a:avLst/>
          </a:prstGeom>
          <a:solidFill>
            <a:srgbClr val="171C19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20116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TV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80760" y="2011680"/>
            <a:ext cx="2468880" cy="868680"/>
          </a:xfrm>
          <a:prstGeom prst="rect">
            <a:avLst/>
          </a:prstGeom>
          <a:solidFill>
            <a:srgbClr val="171C19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0760" y="20116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778240" y="2011680"/>
            <a:ext cx="2468880" cy="868680"/>
          </a:xfrm>
          <a:prstGeom prst="rect">
            <a:avLst/>
          </a:prstGeom>
          <a:solidFill>
            <a:srgbClr val="171C19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78240" y="20116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Pousada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85800" y="3063240"/>
            <a:ext cx="2468880" cy="868680"/>
          </a:xfrm>
          <a:prstGeom prst="rect">
            <a:avLst/>
          </a:prstGeom>
          <a:solidFill>
            <a:srgbClr val="171C19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63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383280" y="3063240"/>
            <a:ext cx="2468880" cy="868680"/>
          </a:xfrm>
          <a:prstGeom prst="rect">
            <a:avLst/>
          </a:prstGeom>
          <a:solidFill>
            <a:srgbClr val="171C19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83280" y="3063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Academia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080760" y="3063240"/>
            <a:ext cx="2468880" cy="868680"/>
          </a:xfrm>
          <a:prstGeom prst="rect">
            <a:avLst/>
          </a:prstGeom>
          <a:solidFill>
            <a:srgbClr val="171C19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80760" y="3063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Loja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778240" y="3063240"/>
            <a:ext cx="2468880" cy="868680"/>
          </a:xfrm>
          <a:prstGeom prst="rect">
            <a:avLst/>
          </a:prstGeom>
          <a:solidFill>
            <a:srgbClr val="171C19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78240" y="3063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343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Música ambiente vive exatamente nesses lugares.</a:t>
            </a:r>
            <a:endParaRPr lang="en-US" sz="20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já recebeu comentário de alguém que ouviu a sua faixa numa pousada tem execução pública acontecendo — e ninguém recolhendo.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solidFill>
            <a:srgbClr val="0C0F0D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20:38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ESPELHO DISSO, E É URGENTE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37160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2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fonograma registrado,</a:t>
            </a:r>
            <a:endParaRPr lang="en-US" sz="42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2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outro pode reivindicar</a:t>
            </a:r>
            <a:endParaRPr lang="en-US" sz="42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2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seu catálogo.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85800" y="3931920"/>
            <a:ext cx="10789920" cy="1783080"/>
          </a:xfrm>
          <a:prstGeom prst="rect">
            <a:avLst/>
          </a:prstGeom>
          <a:solidFill>
            <a:srgbClr val="1E2521"/>
          </a:solidFill>
          <a:ln w="12700">
            <a:solidFill>
              <a:srgbClr val="262E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41330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ACONTECE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462272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registra o fonograma antes de você e passa a receber via Content ID pelo seu próprio vídeo — ou derruba a sua monetização. O prejuízo é retroativo.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hipótese de manual. Acontece.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solidFill>
            <a:srgbClr val="0C0F0D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20:40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544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600"/>
              </a:lnSpc>
              <a:buNone/>
            </a:pPr>
            <a:r>
              <a:rPr lang="en-US" sz="52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Nada disso é sobre</a:t>
            </a:r>
            <a:endParaRPr lang="en-US" sz="5200" dirty="0"/>
          </a:p>
          <a:p>
            <a:pPr indent="0" marL="0">
              <a:lnSpc>
                <a:spcPts val="6600"/>
              </a:lnSpc>
              <a:buNone/>
            </a:pPr>
            <a:r>
              <a:rPr lang="en-US" sz="52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fazer música.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611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sobre o que acontece com a música depois que ela existe.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572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Will já resolveu a primeira metade com vocês: fabricar catálogo e virar catálogo em tráfego. E vocês têm o AdSense provando que funciona.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solidFill>
            <a:srgbClr val="0C0F0D"/>
          </a:solidFill>
          <a:ln w="12700">
            <a:solidFill>
              <a:srgbClr val="2C33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378440" y="365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20:41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MENTORIA CARREIRA MUSICAL COMPLETA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772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metades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96A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PROPULSE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76272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Produzir o catálogo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1762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601200" y="21762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E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2596896"/>
            <a:ext cx="10789920" cy="7315"/>
          </a:xfrm>
          <a:prstGeom prst="rect">
            <a:avLst/>
          </a:prstGeom>
          <a:solidFill>
            <a:srgbClr val="1E252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615184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 monetizar o canal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261518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0" y="26151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E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3035808"/>
            <a:ext cx="10789920" cy="7315"/>
          </a:xfrm>
          <a:prstGeom prst="rect">
            <a:avLst/>
          </a:prstGeom>
          <a:solidFill>
            <a:srgbClr val="1E252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054096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lançamento no streaming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30540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E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0" y="30540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85800" y="3474720"/>
            <a:ext cx="10789920" cy="7315"/>
          </a:xfrm>
          <a:prstGeom prst="rect">
            <a:avLst/>
          </a:prstGeom>
          <a:solidFill>
            <a:srgbClr val="1E252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3493008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for Artists e pitch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349300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E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0" y="34930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85800" y="3913632"/>
            <a:ext cx="10789920" cy="7315"/>
          </a:xfrm>
          <a:prstGeom prst="rect">
            <a:avLst/>
          </a:prstGeom>
          <a:solidFill>
            <a:srgbClr val="1E252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393192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 de usuário e crescimento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0" y="393192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E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0" y="39319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85800" y="4352544"/>
            <a:ext cx="10789920" cy="7315"/>
          </a:xfrm>
          <a:prstGeom prst="rect">
            <a:avLst/>
          </a:prstGeom>
          <a:solidFill>
            <a:srgbClr val="1E252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4370832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Obra, fonograma e associação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680960" y="43708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E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0" y="437083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85800" y="4791456"/>
            <a:ext cx="10789920" cy="7315"/>
          </a:xfrm>
          <a:prstGeom prst="rect">
            <a:avLst/>
          </a:prstGeom>
          <a:solidFill>
            <a:srgbClr val="1E252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5800" y="4809744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em cadeia curta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7680960" y="480974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E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601200" y="48097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85800" y="5230368"/>
            <a:ext cx="10789920" cy="7315"/>
          </a:xfrm>
          <a:prstGeom prst="rect">
            <a:avLst/>
          </a:prstGeom>
          <a:solidFill>
            <a:srgbClr val="1E252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85800" y="5248656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do catálogo e Content ID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7680960" y="524865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E4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9601200" y="52486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85800" y="5669280"/>
            <a:ext cx="10789920" cy="7315"/>
          </a:xfrm>
          <a:prstGeom prst="rect">
            <a:avLst/>
          </a:prstGeom>
          <a:solidFill>
            <a:srgbClr val="1E252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85800" y="5989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máquina de tráfego  +  um catálogo que arrecada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554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R$ 61.000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514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€ 70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7490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distância entre esses dois números</a:t>
            </a:r>
            <a:endParaRPr lang="en-US" sz="32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4F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o mercado.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96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lista de coisas que cabe numa página — e eu acabei de mostrar a lista inteira.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7150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link está no chat.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Outra Metade do Dinheiro</dc:title>
  <dc:subject>PptxGenJS Presentation</dc:subject>
  <dc:creator>Rodrigo Drew · Propulse</dc:creator>
  <cp:lastModifiedBy>Rodrigo Drew · Propulse</cp:lastModifiedBy>
  <cp:revision>1</cp:revision>
  <dcterms:created xsi:type="dcterms:W3CDTF">2026-09-03T23:29:13Z</dcterms:created>
  <dcterms:modified xsi:type="dcterms:W3CDTF">2026-09-03T23:29:13Z</dcterms:modified>
</cp:coreProperties>
</file>